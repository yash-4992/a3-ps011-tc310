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6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8356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4="http://schemas.microsoft.com/office/powerpoint/2010/main" Requires="p14">
      <p:transition spd="slow" p14:dur="1500">
        <p:fade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1148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2103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A3-PS011-TC310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Authorised Attack-Surface Inventory and Change Monitor</a:t>
            </a:r>
            <a:endParaRPr lang="en-US" sz="19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32004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cs typeface="Arial" pitchFamily="34" charset="-120"/>
              </a:rPr>
              <a:t>Yash </a:t>
            </a:r>
            <a:r>
              <a:rPr lang="en-US" sz="1200" b="1" dirty="0" err="1">
                <a:solidFill>
                  <a:srgbClr val="1A1A1A"/>
                </a:solidFill>
                <a:cs typeface="Arial" pitchFamily="34" charset="-120"/>
              </a:rPr>
              <a:t>Myatra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ea typeface="Arial" pitchFamily="34" charset="-122"/>
                <a:cs typeface="Arial" pitchFamily="34" charset="-120"/>
              </a:rPr>
              <a:t>yashmyatra96@gmail.com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cs typeface="Arial" pitchFamily="34" charset="-120"/>
              </a:rPr>
              <a:t>Soham Buch</a:t>
            </a:r>
          </a:p>
          <a:p>
            <a:r>
              <a:rPr lang="en-US" sz="1200" b="1" dirty="0"/>
              <a:t>sohambuch59@gmail.com</a:t>
            </a:r>
          </a:p>
        </p:txBody>
      </p:sp>
      <p:sp>
        <p:nvSpPr>
          <p:cNvPr id="6" name="Text 3"/>
          <p:cNvSpPr txBox="1"/>
          <p:nvPr/>
        </p:nvSpPr>
        <p:spPr>
          <a:xfrm>
            <a:off x="41148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AIORI Hackathon 3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cs typeface="Arial" pitchFamily="34" charset="-120"/>
              </a:rPr>
              <a:t>22/10/2026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914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AIORI 3    Abstract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Description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Yash </a:t>
            </a:r>
            <a:r>
              <a:rPr lang="en-US" sz="800" dirty="0" err="1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Myatra</a:t>
            </a:r>
            <a:r>
              <a:rPr lang="en-US" sz="800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</a:t>
            </a:r>
            <a:r>
              <a:rPr lang="en-US" sz="800" b="1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A3-PS011-TC310</a:t>
            </a:r>
            <a:r>
              <a:rPr lang="en-US" sz="800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22/10/2026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758952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11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Organisations accumulate forgotten internet-facing assets: unmaintained test subdomains, expired TLS certificates, unexpected open ports and dangling DNS CNAME records.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go unnoticed until they are exploited, and manual inventories are outdated within days.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propose an authorised attack-surface inventory and change monitor for a written, approved lab scope (up to 20 domains and 10 hosts).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catalogues DNS records, TLS certificates and exposed services, keeps a baseline, re-scans on a schedule and raises actionable alerts on change.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discovery and monitoring: no exploitation, no unrestricted scanning, and dangling DNS is reported as a candidate, never as proven exploitable.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914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AIORI 3    Background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attack-surface drift matters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58952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11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attack surface is everything an outsider can reach: domains, DNS records, certificates and open services.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Multi-cloud setups change constantly, and decommissioned cloud instances often leave DNS records behind (dangling CNAMEs), which can enable subdomain takeover [5].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expired certificate breaks trust and service; an unexpected open port may expose a service nobody meant to publish [3][4].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teams need a trustworthy baseline plus change detection, not one-off scans.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Scanning must be authorised: a tool that scans only what was approved in writing is a design requirement, not an add-on.</a:t>
            </a:r>
            <a:endParaRPr lang="en-US" sz="13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D644F081-B192-FB28-594D-7196AEF46D49}"/>
              </a:ext>
            </a:extLst>
          </p:cNvPr>
          <p:cNvSpPr txBox="1"/>
          <p:nvPr/>
        </p:nvSpPr>
        <p:spPr>
          <a:xfrm>
            <a:off x="6096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Yash </a:t>
            </a:r>
            <a:r>
              <a:rPr lang="en-US" sz="800" dirty="0" err="1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Myatra</a:t>
            </a:r>
            <a:r>
              <a:rPr lang="en-US" sz="800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</a:t>
            </a:r>
            <a:r>
              <a:rPr lang="en-US" sz="800" b="1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A3-PS011-TC310</a:t>
            </a:r>
            <a:r>
              <a:rPr lang="en-US" sz="800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22/10/2026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914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AIORI 3    Literature &amp; RFC Review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&amp; RFC Review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 and guidance our checks are built 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58952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11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161848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Relevance to our design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RFC 1035 [1]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DNS records and CNAME resolution: basis of DNS inventory and dangling-CNAME check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RFC 1918 [2]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address space: lab network and scope allowlist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RFC 5280 [3]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X.509 certificate fields (validity, subject, SAN) we inventory and compare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RFC 8446 [4]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TLS 1.3: how certificates are obtained during the handshake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OWASP WSTG [5]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Testing guidance incl. subdomain takeover and network/infra configuration review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3">
            <a:extLst>
              <a:ext uri="{FF2B5EF4-FFF2-40B4-BE49-F238E27FC236}">
                <a16:creationId xmlns:a16="http://schemas.microsoft.com/office/drawing/2014/main" id="{71B32AE2-5A9F-6FF3-32BC-91BB0CA872DB}"/>
              </a:ext>
            </a:extLst>
          </p:cNvPr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Yash </a:t>
            </a:r>
            <a:r>
              <a:rPr lang="en-US" sz="800" dirty="0" err="1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Myatra</a:t>
            </a:r>
            <a:r>
              <a:rPr lang="en-US" sz="800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</a:t>
            </a:r>
            <a:r>
              <a:rPr lang="en-US" sz="800" b="1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A3-PS011-TC310</a:t>
            </a:r>
            <a:r>
              <a:rPr lang="en-US" sz="800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22/10/2026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914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AIORI 3    Proposed Solution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scheduler + scanner + baseline diff + dashboard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58952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11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Scope-gated scanning of lab targets, snapshot storage, and four documented checks: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1310640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Alert when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Possible false positive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port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 open that is not in the expected list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Temporary maintenance port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TLS certificate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Expired or expiring within 30 days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Intentional self-signed test cert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Dangling DNS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CNAME target does not resolve (candidate only)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briefly down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Unexpected service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 on a port differs from baseline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Banner changed after update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Stack: FastAPI, SQLite, APScheduler, dnspython, Python ssl/socket, Docker Compose lab.</a:t>
            </a:r>
            <a:endParaRPr lang="en-US" sz="10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9F0C1973-789D-0F44-64A2-C683E52CC43D}"/>
              </a:ext>
            </a:extLst>
          </p:cNvPr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Yash </a:t>
            </a:r>
            <a:r>
              <a:rPr lang="en-US" sz="800" dirty="0" err="1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Myatra</a:t>
            </a:r>
            <a:r>
              <a:rPr lang="en-US" sz="800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</a:t>
            </a:r>
            <a:r>
              <a:rPr lang="en-US" sz="800" b="1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A3-PS011-TC310</a:t>
            </a:r>
            <a:r>
              <a:rPr lang="en-US" sz="800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22/10/2026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914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AIORI 3    Solution Optimization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Improvements over Current Practice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vs after (qualitative; measured results added after the demo)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58952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11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166420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Before (manual)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 (proposed)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Inventory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Spreadsheet, outdated quickly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Auto-built, refreshed on schedule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 awareness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 during incidents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 diff raises alerts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Dangling DNS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Rarely checked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Candidate CNAMEs flagged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Scan authority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Tools scan whatever is typed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Written scope; out-of-scope refused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Alert quality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false-positive tracking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Analyst marks false positives; reported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3">
            <a:extLst>
              <a:ext uri="{FF2B5EF4-FFF2-40B4-BE49-F238E27FC236}">
                <a16:creationId xmlns:a16="http://schemas.microsoft.com/office/drawing/2014/main" id="{40EF6FFE-214C-DCC0-DB0B-E39CEEDEA7BE}"/>
              </a:ext>
            </a:extLst>
          </p:cNvPr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Yash </a:t>
            </a:r>
            <a:r>
              <a:rPr lang="en-US" sz="800" dirty="0" err="1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Myatra</a:t>
            </a:r>
            <a:r>
              <a:rPr lang="en-US" sz="800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</a:t>
            </a:r>
            <a:r>
              <a:rPr lang="en-US" sz="800" b="1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A3-PS011-TC310</a:t>
            </a:r>
            <a:r>
              <a:rPr lang="en-US" sz="800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22/10/2026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914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AIORI 3    Architecture Design (UML Diagram)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Architecture &amp; Design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Scope-gated scan, store, compare, alert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58952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E8ECFF"/>
          </a:solidFill>
          <a:ln w="12700">
            <a:solidFill>
              <a:srgbClr val="0000C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645920"/>
            <a:ext cx="17373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Allowlist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164592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E8ECFF"/>
          </a:solidFill>
          <a:ln w="12700">
            <a:solidFill>
              <a:srgbClr val="0000C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51760" y="1645920"/>
            <a:ext cx="17373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64592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C9D3FF"/>
          </a:solidFill>
          <a:ln w="12700">
            <a:solidFill>
              <a:srgbClr val="0000C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645920"/>
            <a:ext cx="17373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Scanner Engine (4 checks)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49440" y="164592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FFF3D6"/>
          </a:solidFill>
          <a:ln w="12700">
            <a:solidFill>
              <a:srgbClr val="0000C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49440" y="1645920"/>
            <a:ext cx="17373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Targets (domains, hosts)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94560" y="1988820"/>
            <a:ext cx="457200" cy="0"/>
          </a:xfrm>
          <a:prstGeom prst="line">
            <a:avLst/>
          </a:prstGeom>
          <a:noFill/>
          <a:ln w="19050">
            <a:solidFill>
              <a:srgbClr val="0000C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389120" y="1988820"/>
            <a:ext cx="457200" cy="0"/>
          </a:xfrm>
          <a:prstGeom prst="line">
            <a:avLst/>
          </a:prstGeom>
          <a:noFill/>
          <a:ln w="19050">
            <a:solidFill>
              <a:srgbClr val="0000C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583680" y="1988820"/>
            <a:ext cx="365760" cy="0"/>
          </a:xfrm>
          <a:prstGeom prst="line">
            <a:avLst/>
          </a:prstGeom>
          <a:noFill/>
          <a:ln w="19050">
            <a:solidFill>
              <a:srgbClr val="0000CD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846320" y="301752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D9F2E0"/>
          </a:solidFill>
          <a:ln w="12700">
            <a:solidFill>
              <a:srgbClr val="0000C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3017520"/>
            <a:ext cx="17373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DB (snapshots)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651760" y="301752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E8ECFF"/>
          </a:solidFill>
          <a:ln w="12700">
            <a:solidFill>
              <a:srgbClr val="0000C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651760" y="3017520"/>
            <a:ext cx="17373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 Engine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01752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E8ECFF"/>
          </a:solidFill>
          <a:ln w="12700">
            <a:solidFill>
              <a:srgbClr val="0000C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3017520"/>
            <a:ext cx="17373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&amp; Reports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49440" y="301752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E8ECFF"/>
          </a:solidFill>
          <a:ln w="12700">
            <a:solidFill>
              <a:srgbClr val="0000C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49440" y="3017520"/>
            <a:ext cx="17373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Dashboard (FastAPI)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715000" y="2331720"/>
            <a:ext cx="0" cy="685800"/>
          </a:xfrm>
          <a:prstGeom prst="line">
            <a:avLst/>
          </a:prstGeom>
          <a:noFill/>
          <a:ln w="19050">
            <a:solidFill>
              <a:srgbClr val="0000CD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H="1">
            <a:off x="4389120" y="3360420"/>
            <a:ext cx="457200" cy="0"/>
          </a:xfrm>
          <a:prstGeom prst="line">
            <a:avLst/>
          </a:prstGeom>
          <a:noFill/>
          <a:ln w="19050">
            <a:solidFill>
              <a:srgbClr val="0000CD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H="1">
            <a:off x="2194560" y="3360420"/>
            <a:ext cx="457200" cy="0"/>
          </a:xfrm>
          <a:prstGeom prst="line">
            <a:avLst/>
          </a:prstGeom>
          <a:noFill/>
          <a:ln w="19050">
            <a:solidFill>
              <a:srgbClr val="0000CD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583680" y="3360420"/>
            <a:ext cx="365760" cy="0"/>
          </a:xfrm>
          <a:prstGeom prst="line">
            <a:avLst/>
          </a:prstGeom>
          <a:noFill/>
          <a:ln w="19050">
            <a:solidFill>
              <a:srgbClr val="0000CD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0" y="4114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Figure: System Architecture Diagram</a:t>
            </a:r>
            <a:endParaRPr lang="en-US" sz="1100" dirty="0"/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2FCC1B92-D4EC-DDCB-5244-D09824F5AFBD}"/>
              </a:ext>
            </a:extLst>
          </p:cNvPr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Yash </a:t>
            </a:r>
            <a:r>
              <a:rPr lang="en-US" sz="800" dirty="0" err="1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Myatra</a:t>
            </a:r>
            <a:r>
              <a:rPr lang="en-US" sz="800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</a:t>
            </a:r>
            <a:r>
              <a:rPr lang="en-US" sz="800" b="1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A3-PS011-TC310</a:t>
            </a:r>
            <a:r>
              <a:rPr lang="en-US" sz="800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22/10/2026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914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AIORI 3    Data Flow Diagram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 Diagram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moves from analyst scope to alerts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58952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FFF3D6"/>
          </a:solidFill>
          <a:ln w="12700">
            <a:solidFill>
              <a:srgbClr val="0000C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645920"/>
            <a:ext cx="17373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164592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E8ECFF"/>
          </a:solidFill>
          <a:ln w="12700">
            <a:solidFill>
              <a:srgbClr val="0000C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51760" y="1645920"/>
            <a:ext cx="17373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Validate Scope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64592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C9D3FF"/>
          </a:solidFill>
          <a:ln w="12700">
            <a:solidFill>
              <a:srgbClr val="0000C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645920"/>
            <a:ext cx="17373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Run 4 Checks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49440" y="164592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D9F2E0"/>
          </a:solidFill>
          <a:ln w="12700">
            <a:solidFill>
              <a:srgbClr val="0000C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49440" y="1645920"/>
            <a:ext cx="17373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 Snapshots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94560" y="1988820"/>
            <a:ext cx="457200" cy="0"/>
          </a:xfrm>
          <a:prstGeom prst="line">
            <a:avLst/>
          </a:prstGeom>
          <a:noFill/>
          <a:ln w="19050">
            <a:solidFill>
              <a:srgbClr val="0000C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389120" y="1988820"/>
            <a:ext cx="457200" cy="0"/>
          </a:xfrm>
          <a:prstGeom prst="line">
            <a:avLst/>
          </a:prstGeom>
          <a:noFill/>
          <a:ln w="19050">
            <a:solidFill>
              <a:srgbClr val="0000C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583680" y="1988820"/>
            <a:ext cx="365760" cy="0"/>
          </a:xfrm>
          <a:prstGeom prst="line">
            <a:avLst/>
          </a:prstGeom>
          <a:noFill/>
          <a:ln w="19050">
            <a:solidFill>
              <a:srgbClr val="0000CD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949440" y="301752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E8ECFF"/>
          </a:solidFill>
          <a:ln w="12700">
            <a:solidFill>
              <a:srgbClr val="0000C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49440" y="3017520"/>
            <a:ext cx="17373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Compare vs Baseline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301752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E8ECFF"/>
          </a:solidFill>
          <a:ln w="12700">
            <a:solidFill>
              <a:srgbClr val="0000C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3017520"/>
            <a:ext cx="17373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Create Alerts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51760" y="301752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D9F2E0"/>
          </a:solidFill>
          <a:ln w="12700">
            <a:solidFill>
              <a:srgbClr val="0000C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651760" y="3017520"/>
            <a:ext cx="17373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 Alerts &amp; Audit Log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FFF3D6"/>
          </a:solidFill>
          <a:ln w="12700">
            <a:solidFill>
              <a:srgbClr val="0000C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3017520"/>
            <a:ext cx="17373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/ Report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818120" y="2331720"/>
            <a:ext cx="0" cy="685800"/>
          </a:xfrm>
          <a:prstGeom prst="line">
            <a:avLst/>
          </a:prstGeom>
          <a:noFill/>
          <a:ln w="19050">
            <a:solidFill>
              <a:srgbClr val="0000CD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H="1">
            <a:off x="6583680" y="3360420"/>
            <a:ext cx="365760" cy="0"/>
          </a:xfrm>
          <a:prstGeom prst="line">
            <a:avLst/>
          </a:prstGeom>
          <a:noFill/>
          <a:ln w="19050">
            <a:solidFill>
              <a:srgbClr val="0000CD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H="1">
            <a:off x="4389120" y="3360420"/>
            <a:ext cx="457200" cy="0"/>
          </a:xfrm>
          <a:prstGeom prst="line">
            <a:avLst/>
          </a:prstGeom>
          <a:noFill/>
          <a:ln w="19050">
            <a:solidFill>
              <a:srgbClr val="0000CD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H="1">
            <a:off x="2194560" y="3360420"/>
            <a:ext cx="457200" cy="0"/>
          </a:xfrm>
          <a:prstGeom prst="line">
            <a:avLst/>
          </a:prstGeom>
          <a:noFill/>
          <a:ln w="19050">
            <a:solidFill>
              <a:srgbClr val="0000CD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V="1">
            <a:off x="1325880" y="2331720"/>
            <a:ext cx="0" cy="685800"/>
          </a:xfrm>
          <a:prstGeom prst="line">
            <a:avLst/>
          </a:prstGeom>
          <a:noFill/>
          <a:ln w="19050">
            <a:solidFill>
              <a:srgbClr val="0000CD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0" y="4114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Figure: Data Flow Diagram (DFD)</a:t>
            </a:r>
            <a:endParaRPr lang="en-US" sz="1100" dirty="0"/>
          </a:p>
        </p:txBody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409AA1D6-0759-4613-7B9A-9BA452F356CD}"/>
              </a:ext>
            </a:extLst>
          </p:cNvPr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Yash </a:t>
            </a:r>
            <a:r>
              <a:rPr lang="en-US" sz="800" dirty="0" err="1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Myatra</a:t>
            </a:r>
            <a:r>
              <a:rPr lang="en-US" sz="800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</a:t>
            </a:r>
            <a:r>
              <a:rPr lang="en-US" sz="800" b="1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A3-PS011-TC310</a:t>
            </a:r>
            <a:r>
              <a:rPr lang="en-US" sz="800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22/10/2026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914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AIORI 3    Deployment Timeline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Timeline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 plan (editable)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58952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11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166420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Milestone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 Oct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Presentation, stack locked, repo and scope file set up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 Oct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 lab with seeded issues; port, TLS and DNS scanners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 Oct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Snapshot store, diff engine, scheduler, alerts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Oct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Dashboard, false-positive tracking, tests, pseudocode snippet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 Oct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 report, demo rehearsal and submission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3">
            <a:extLst>
              <a:ext uri="{FF2B5EF4-FFF2-40B4-BE49-F238E27FC236}">
                <a16:creationId xmlns:a16="http://schemas.microsoft.com/office/drawing/2014/main" id="{63C028DF-2550-179E-FCA4-1F867C1156AB}"/>
              </a:ext>
            </a:extLst>
          </p:cNvPr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Yash </a:t>
            </a:r>
            <a:r>
              <a:rPr lang="en-US" sz="800" dirty="0" err="1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Myatra</a:t>
            </a:r>
            <a:r>
              <a:rPr lang="en-US" sz="800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</a:t>
            </a:r>
            <a:r>
              <a:rPr lang="en-US" sz="800" b="1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A3-PS011-TC310</a:t>
            </a:r>
            <a:r>
              <a:rPr lang="en-US" sz="800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22/10/2026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914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AIORI 3    Bibliography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Bibliography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P. Mockapetris. "Domain Names - Implementation and Specification". RFC 1035, IETF, 1987.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Y. Rekhter et al. "Address Allocation for Private Internets". RFC 1918, IETF, 1996.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D. Cooper et al. "Internet X.509 Public Key Infrastructure Certificate and CRL Profile". RFC 5280, IETF, 2008.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E. Rescorla. "The Transport Layer Security (TLS) Protocol Version 1.3". RFC 8446, IETF, 2018.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OWASP Foundation. "Web Security Testing Guide (WSTG)". owasp.org/www-project-web-security-testing-guide.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58952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8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8B3B0424-FD5B-6E9E-AEA0-088F194C566F}"/>
              </a:ext>
            </a:extLst>
          </p:cNvPr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Yash </a:t>
            </a:r>
            <a:r>
              <a:rPr lang="en-US" sz="800" dirty="0" err="1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Myatra</a:t>
            </a:r>
            <a:r>
              <a:rPr lang="en-US" sz="800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</a:t>
            </a:r>
            <a:r>
              <a:rPr lang="en-US" sz="800" b="1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A3-PS011-TC310</a:t>
            </a:r>
            <a:r>
              <a:rPr lang="en-US" sz="800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22/10/2026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Your Attention!</a:t>
            </a:r>
            <a:endParaRPr lang="en-US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961</Words>
  <Application>Microsoft Office PowerPoint</Application>
  <PresentationFormat>On-screen Show (16:9)</PresentationFormat>
  <Paragraphs>161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yash ahir</cp:lastModifiedBy>
  <cp:revision>3</cp:revision>
  <dcterms:created xsi:type="dcterms:W3CDTF">2026-10-27T14:00:00Z</dcterms:created>
  <dcterms:modified xsi:type="dcterms:W3CDTF">2026-10-28T12:57:57Z</dcterms:modified>
</cp:coreProperties>
</file>